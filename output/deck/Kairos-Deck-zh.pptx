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Relationship Id="rId8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555" y="0"/>
            <a:ext cx="1228725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6035040" cy="6858000"/>
          </a:xfrm>
          <a:prstGeom prst="roundRect">
            <a:avLst>
              <a:gd name="adj" fmla="val 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unrise_flat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5029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PITCH DECK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943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CD535"/>
                </a:solidFill>
                <a:latin typeface="PingFang SC"/>
                <a:ea typeface="PingFang SC"/>
                <a:cs typeface="PingFang SC"/>
              </a:rPr>
              <a:t>AI 驱动的 Web3 预测市场 × RWA 事件协议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把世界的每一个关键时刻，变成可交易、可验证的事件资产。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◆ 汇聚共识 · 预见关键一刻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BACKED BY WORLD-CLASS INVESTORS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6263640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aradig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6309360"/>
            <a:ext cx="274320" cy="2743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444752" y="6263640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ragonf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208" y="6309360"/>
            <a:ext cx="274320" cy="2743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2249424" y="6263640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nimocaBrand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6309360"/>
            <a:ext cx="274320" cy="2743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054096" y="6263640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552" y="6309360"/>
            <a:ext cx="274320" cy="27432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858768" y="6263640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interm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8224" y="6309360"/>
            <a:ext cx="274320" cy="2743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663440" y="6263640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onsenSy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2896" y="6309360"/>
            <a:ext cx="274320" cy="27432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68112" y="6263640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ainli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7568" y="6309360"/>
            <a:ext cx="274320" cy="27432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272784" y="6263640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yzilab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6309360"/>
            <a:ext cx="274320" cy="27432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077456" y="6263640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veg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96912" y="6309360"/>
            <a:ext cx="274320" cy="27432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7882128" y="6263640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uzcapita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1584" y="6309360"/>
            <a:ext cx="274320" cy="27432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686800" y="6263640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BluemountCapita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42440" y="6309360"/>
            <a:ext cx="401952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BACKED BY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缔造了这条赛道的资本，</a:t>
            </a:r>
          </a:p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正在共建 Kairos。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从 Polymarket、Kalshi 的缔造者，到全球顶级做市商与核心基础设施——Kairos 的投资人阵容，本身就是赢得这条赛道的底牌：认知、流动性、结算、分发，一次到位。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7556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radig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2633472"/>
            <a:ext cx="603504" cy="6035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514600" y="2514600"/>
            <a:ext cx="17556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ragonf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2633472"/>
            <a:ext cx="603504" cy="60350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89120" y="2514600"/>
            <a:ext cx="17556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nimocaBra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633472"/>
            <a:ext cx="603504" cy="60350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63640" y="2514600"/>
            <a:ext cx="17556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2633472"/>
            <a:ext cx="603504" cy="60350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138160" y="2514600"/>
            <a:ext cx="17556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intermu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4232" y="2633472"/>
            <a:ext cx="603504" cy="60350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0012680" y="2514600"/>
            <a:ext cx="17556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onsenSy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8752" y="2633472"/>
            <a:ext cx="603504" cy="60350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0080" y="3474720"/>
            <a:ext cx="17556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ainl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6152" y="3593592"/>
            <a:ext cx="603504" cy="60350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2514600" y="3474720"/>
            <a:ext cx="17556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yzilab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0672" y="3593592"/>
            <a:ext cx="603504" cy="60350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389120" y="3474720"/>
            <a:ext cx="17556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eg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5192" y="3593592"/>
            <a:ext cx="603504" cy="60350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263640" y="3474720"/>
            <a:ext cx="17556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zcapit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9712" y="3593592"/>
            <a:ext cx="603504" cy="603504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138160" y="3474720"/>
            <a:ext cx="17556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luemountCapit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3837" y="3593592"/>
            <a:ext cx="884294" cy="6035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0080" y="4343400"/>
            <a:ext cx="5394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Paradigm — 缔造 Polymarket、Kalshi 的顶级风投——赛道认知与资本的天花板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343400"/>
            <a:ext cx="5394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Dragonfly — 顶级跨境加密基金，深耕交易、基建与亚太生态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709160"/>
            <a:ext cx="5394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Animoca Brands — Web3 游戏与粉丝经济巨头——娱乐化事件的天然入口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709160"/>
            <a:ext cx="5394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Amber Group — 头部数字资产金融与做市——直击「流动性」命门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074920"/>
            <a:ext cx="5394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Wintermute — 全球领先算法做市商，深化订单簿与价格发现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074920"/>
            <a:ext cx="5394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Consensys — 以太坊核心基建（MetaMask / Infura）——底层结算与入口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5394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Chainlink — 领先去中心化预言机——与「结算验证」天然咬合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440680"/>
            <a:ext cx="5394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YZi Labs — 原 Binance Labs——分发、上所与合规的战略通路</a:t>
            </a:r>
          </a:p>
        </p:txBody>
      </p:sp>
      <p:pic>
        <p:nvPicPr>
          <p:cNvPr id="37" name="Picture 36" descr="sunrise_flat_25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THE WAVE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下一个现象级赛道：预测市场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两年规模暴涨 130×。主流机构与媒体，已经替这条赛道做完了验证。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341467" cy="180594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5341467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479282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47928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Kalshi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18688"/>
            <a:ext cx="4792827" cy="708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完成 10 亿美元 E 轮，估值升至 110 亿美元（Paradigm 领投）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286000"/>
            <a:ext cx="5341467" cy="180594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0147" y="2286000"/>
            <a:ext cx="5341467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4467" y="2487168"/>
            <a:ext cx="479282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WALL STREET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4467" y="2761488"/>
            <a:ext cx="47928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Polymarket × 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4467" y="3218688"/>
            <a:ext cx="4792827" cy="708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纽交所母公司 ICE 战略投资最高 20 亿美元（估值约 90 亿）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20540"/>
            <a:ext cx="5341467" cy="180594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320540"/>
            <a:ext cx="5341467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21708"/>
            <a:ext cx="479282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96028"/>
            <a:ext cx="47928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CNN · CNBC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3228"/>
            <a:ext cx="4792827" cy="708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与 Kalshi 达成官方 / 独家预测数据合作，预测即新闻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0147" y="4320540"/>
            <a:ext cx="5341467" cy="180594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0147" y="4320540"/>
            <a:ext cx="5341467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4467" y="4521708"/>
            <a:ext cx="479282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MAINSTREAM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4467" y="4796028"/>
            <a:ext cx="47928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Robinhood · Google 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4467" y="5253228"/>
            <a:ext cx="4792827" cy="708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零售券商拟入场；预测赔率进入主流金融数据</a:t>
            </a:r>
          </a:p>
        </p:txBody>
      </p:sp>
      <p:pic>
        <p:nvPicPr>
          <p:cNvPr id="27" name="Picture 26" descr="sunrise_flat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WHY NOW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预测市场的 iPhone 时刻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联邦监管、交易基建、体育分发三股力量同时到位——红利属于早期类别的开创者。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484778" cy="1554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05456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两年规模增长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29361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130×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3458" y="2286000"/>
            <a:ext cx="3484778" cy="1554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505456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赛道活跃用户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999232"/>
            <a:ext cx="29361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17M+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2286000"/>
            <a:ext cx="3484778" cy="1554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1156" y="2505456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2026 监管覆盖（美国）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2999232"/>
            <a:ext cx="29361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38 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69080"/>
            <a:ext cx="3484778" cy="1554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88536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CFTC 已为 Polymarket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82312"/>
            <a:ext cx="29361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开绿灯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3458" y="4069080"/>
            <a:ext cx="3484778" cy="1554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7778" y="4288536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交易基建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4782312"/>
            <a:ext cx="29361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6836" y="4069080"/>
            <a:ext cx="3484778" cy="1554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1156" y="4288536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体育分发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1156" y="4782312"/>
            <a:ext cx="29361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FanDuel·DraftKings</a:t>
            </a:r>
          </a:p>
        </p:txBody>
      </p:sp>
      <p:pic>
        <p:nvPicPr>
          <p:cNvPr id="25" name="Picture 24" descr="sunrise_flat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MECHANISM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什么是预测市场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用交易价格聚合群体信息，把「价格」变成对未来事件的「概率」。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5943600" cy="1325880"/>
          </a:xfrm>
          <a:prstGeom prst="roundRect">
            <a:avLst>
              <a:gd name="adj" fmla="val 6000"/>
            </a:avLst>
          </a:prstGeom>
          <a:solidFill>
            <a:srgbClr val="1A1505"/>
          </a:solidFill>
          <a:ln w="12700">
            <a:solidFill>
              <a:srgbClr val="F0B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Price ≈ P(Event)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事件发生兑付 1、不发生兑付 0；价格即市场隐含概率。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E6E6E6"/>
                </a:solidFill>
                <a:latin typeface="PingFang SC"/>
                <a:ea typeface="PingFang SC"/>
                <a:cs typeface="PingFang SC"/>
              </a:rPr>
              <a:t>「2026 年底 BTC 会达到 200K 吗？」 价格 0.72 → 市场隐含约 72% 概率。</a:t>
            </a:r>
          </a:p>
        </p:txBody>
      </p:sp>
      <p:pic>
        <p:nvPicPr>
          <p:cNvPr id="11" name="Picture 10" descr="crystal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286000"/>
            <a:ext cx="4023360" cy="4023360"/>
          </a:xfrm>
          <a:prstGeom prst="rect">
            <a:avLst/>
          </a:prstGeom>
        </p:spPr>
      </p:pic>
      <p:pic>
        <p:nvPicPr>
          <p:cNvPr id="12" name="Picture 11" descr="sunrise_flat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MECHANISM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CLOB 定价原理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一张「到期必定值 $1」的兑换券，被拆成互补的 YES / NO 两半。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5943600" cy="1325880"/>
          </a:xfrm>
          <a:prstGeom prst="roundRect">
            <a:avLst>
              <a:gd name="adj" fmla="val 6000"/>
            </a:avLst>
          </a:prstGeom>
          <a:solidFill>
            <a:srgbClr val="1A1505"/>
          </a:solidFill>
          <a:ln w="12700">
            <a:solidFill>
              <a:srgbClr val="F0B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YES (p) + NO (1−p) ≈ $1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买 YES @0.18 ＝ 等价卖 NO @0.82（镜像报价）。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E6E6E6"/>
                </a:solidFill>
                <a:latin typeface="PingFang SC"/>
                <a:ea typeface="PingFang SC"/>
                <a:cs typeface="PingFang SC"/>
              </a:rPr>
              <a:t>两侧合并为同一订单簿 → 集中流动性、收窄价差、加速价格发现。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517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＝ $1.00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291840"/>
            <a:ext cx="822960" cy="1005840"/>
          </a:xfrm>
          <a:prstGeom prst="roundRect">
            <a:avLst>
              <a:gd name="adj" fmla="val 4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0" y="3291840"/>
            <a:ext cx="3749040" cy="1005840"/>
          </a:xfrm>
          <a:prstGeom prst="roundRect">
            <a:avLst>
              <a:gd name="adj" fmla="val 4000"/>
            </a:avLst>
          </a:prstGeom>
          <a:solidFill>
            <a:srgbClr val="16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6118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0B0B"/>
                </a:solidFill>
                <a:latin typeface="PingFang SC"/>
                <a:ea typeface="PingFang SC"/>
                <a:cs typeface="PingFang SC"/>
              </a:rPr>
              <a:t>YES 0.18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611880"/>
            <a:ext cx="3749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B0B0B"/>
                </a:solidFill>
                <a:latin typeface="PingFang SC"/>
                <a:ea typeface="PingFang SC"/>
                <a:cs typeface="PingFang SC"/>
              </a:rPr>
              <a:t>NO  0.82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4348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买 YES @0.18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4348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6D2E8"/>
                </a:solidFill>
                <a:latin typeface="PingFang SC"/>
                <a:ea typeface="PingFang SC"/>
                <a:cs typeface="PingFang SC"/>
              </a:rPr>
              <a:t>≡ 卖 NO @0.82</a:t>
            </a:r>
          </a:p>
        </p:txBody>
      </p:sp>
      <p:pic>
        <p:nvPicPr>
          <p:cNvPr id="18" name="Picture 17" descr="sunrise_flat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这条赛道，仍有四道坎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318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5318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流动性不足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318607" cy="1211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早期与在地化市场流动性稀薄，滑点高、进出难。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1508760"/>
            <a:ext cx="5318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7" y="1874520"/>
            <a:ext cx="5318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理解门槛高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377440"/>
            <a:ext cx="5318607" cy="1211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定价与机制偏金融化，多数用户缺乏清晰策略。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09060"/>
            <a:ext cx="5318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4820"/>
            <a:ext cx="5318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在地化 + 资金摩擦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77740"/>
            <a:ext cx="5318607" cy="1211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缺本地话题、法币入口与友善体验。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3909060"/>
            <a:ext cx="5318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4274820"/>
            <a:ext cx="5318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结果验证困难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4777740"/>
            <a:ext cx="5318607" cy="1211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现实事件缺权威可验证来源，易生争议。</a:t>
            </a:r>
          </a:p>
        </p:txBody>
      </p:sp>
      <p:pic>
        <p:nvPicPr>
          <p:cNvPr id="18" name="Picture 17" descr="sunrise_flat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Kairos 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一个由 AI 驱动、链上透明结算的 Web3「预测市场 × RWA 事件」协议——把真实世界趋势变成可定价、可交易、可验证的事件资产。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262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902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6E6E6"/>
                </a:solidFill>
                <a:latin typeface="PingFang SC"/>
                <a:ea typeface="PingFang SC"/>
                <a:cs typeface="PingFang SC"/>
              </a:rPr>
              <a:t>金融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9344" y="45262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45902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6E6E6"/>
                </a:solidFill>
                <a:latin typeface="PingFang SC"/>
                <a:ea typeface="PingFang SC"/>
                <a:cs typeface="PingFang SC"/>
              </a:rPr>
              <a:t>政治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45262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45902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6E6E6"/>
                </a:solidFill>
                <a:latin typeface="PingFang SC"/>
                <a:ea typeface="PingFang SC"/>
                <a:cs typeface="PingFang SC"/>
              </a:rPr>
              <a:t>气候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45262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45902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6E6E6"/>
                </a:solidFill>
                <a:latin typeface="PingFang SC"/>
                <a:ea typeface="PingFang SC"/>
                <a:cs typeface="PingFang SC"/>
              </a:rPr>
              <a:t>科技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7136" y="45262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45902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6E6E6"/>
                </a:solidFill>
                <a:latin typeface="PingFang SC"/>
                <a:ea typeface="PingFang SC"/>
                <a:cs typeface="PingFang SC"/>
              </a:rPr>
              <a:t>体育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45262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45902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6E6E6"/>
                </a:solidFill>
                <a:latin typeface="PingFang SC"/>
                <a:ea typeface="PingFang SC"/>
                <a:cs typeface="PingFang SC"/>
              </a:rPr>
              <a:t>文化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920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932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6E6E6"/>
                </a:solidFill>
                <a:latin typeface="PingFang SC"/>
                <a:ea typeface="PingFang SC"/>
                <a:cs typeface="PingFang SC"/>
              </a:rPr>
              <a:t>娱乐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09344" y="502920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9344" y="50932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6E6E6"/>
                </a:solidFill>
                <a:latin typeface="PingFang SC"/>
                <a:ea typeface="PingFang SC"/>
                <a:cs typeface="PingFang SC"/>
              </a:rPr>
              <a:t>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78608" y="50292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78608" y="509320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6E6E6"/>
                </a:solidFill>
                <a:latin typeface="PingFang SC"/>
                <a:ea typeface="PingFang SC"/>
                <a:cs typeface="PingFang SC"/>
              </a:rPr>
              <a:t>粉丝经济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3632" y="50292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13632" y="509320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6E6E6"/>
                </a:solidFill>
                <a:latin typeface="PingFang SC"/>
                <a:ea typeface="PingFang SC"/>
                <a:cs typeface="PingFang SC"/>
              </a:rPr>
              <a:t>社会趋势</a:t>
            </a:r>
          </a:p>
        </p:txBody>
      </p:sp>
      <p:pic>
        <p:nvPicPr>
          <p:cNvPr id="27" name="Picture 26" descr="o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286000"/>
            <a:ext cx="4023360" cy="4023360"/>
          </a:xfrm>
          <a:prstGeom prst="rect">
            <a:avLst/>
          </a:prstGeom>
        </p:spPr>
      </p:pic>
      <p:pic>
        <p:nvPicPr>
          <p:cNvPr id="28" name="Picture 27" descr="sunrise_flat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全链路事件资产化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事件生成 — 流动性 — 结算验证，一条龙打通。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393338" cy="24688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07565" y="3017520"/>
            <a:ext cx="658368" cy="658368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7565" y="3154680"/>
            <a:ext cx="6583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B0B0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事件生成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AI + 创作者，把热点变结构化预测话题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3418" y="32004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2743200"/>
            <a:ext cx="3393338" cy="24688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6663" y="3017520"/>
            <a:ext cx="658368" cy="658368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6663" y="3154680"/>
            <a:ext cx="6583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B0B0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498" y="393192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流动性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3498" y="443484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CLOB + 做市 / 套利工具，提供交易深度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2516" y="32004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8276" y="2743200"/>
            <a:ext cx="3393338" cy="24688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25761" y="3017520"/>
            <a:ext cx="658368" cy="658368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5761" y="3154680"/>
            <a:ext cx="6583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B0B0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393192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结算验证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596" y="443484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预言机 + DAO 仲裁，链上可审计</a:t>
            </a:r>
          </a:p>
        </p:txBody>
      </p:sp>
      <p:pic>
        <p:nvPicPr>
          <p:cNvPr id="24" name="Picture 23" descr="sunrise_flat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DIFFERENTIATION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Kairos 有何不同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31720"/>
          <a:ext cx="10908792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325112"/>
              </a:tblGrid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CFCFC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219456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CFCFC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传统预测市场</a:t>
                      </a:r>
                    </a:p>
                  </a:txBody>
                  <a:tcPr marL="219456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Kairos</a:t>
                      </a:r>
                    </a:p>
                  </a:txBody>
                  <a:tcPr marL="219456" anchor="ctr">
                    <a:solidFill>
                      <a:srgbClr val="F0B90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0B90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市场重心</a:t>
                      </a:r>
                    </a:p>
                  </a:txBody>
                  <a:tcPr marL="219456" anchor="ctr"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8A8A8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单一类别 / 小众市场</a:t>
                      </a:r>
                    </a:p>
                  </a:txBody>
                  <a:tcPr marL="219456" anchor="ctr"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多领域覆盖 + RWA 事件</a:t>
                      </a:r>
                    </a:p>
                  </a:txBody>
                  <a:tcPr marL="219456" anchor="ctr">
                    <a:solidFill>
                      <a:srgbClr val="10101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0B90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用户体验</a:t>
                      </a:r>
                    </a:p>
                  </a:txBody>
                  <a:tcPr marL="219456" anchor="ctr"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8A8A8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交易导向、操作复杂</a:t>
                      </a:r>
                    </a:p>
                  </a:txBody>
                  <a:tcPr marL="219456" anchor="ctr"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 辅助 + 引导式新手</a:t>
                      </a:r>
                    </a:p>
                  </a:txBody>
                  <a:tcPr marL="219456" anchor="ctr">
                    <a:solidFill>
                      <a:srgbClr val="10101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0B90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分发方式</a:t>
                      </a:r>
                    </a:p>
                  </a:txBody>
                  <a:tcPr marL="219456" anchor="ctr"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8A8A8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加密原生用户</a:t>
                      </a:r>
                    </a:p>
                  </a:txBody>
                  <a:tcPr marL="219456" anchor="ctr"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创作者驱动，覆盖社交与主流</a:t>
                      </a:r>
                    </a:p>
                  </a:txBody>
                  <a:tcPr marL="219456" anchor="ctr">
                    <a:solidFill>
                      <a:srgbClr val="10101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0B90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参与角色</a:t>
                      </a:r>
                    </a:p>
                  </a:txBody>
                  <a:tcPr marL="219456" anchor="ctr"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8A8A8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仅限交易者</a:t>
                      </a:r>
                    </a:p>
                  </a:txBody>
                  <a:tcPr marL="219456" anchor="ctr"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交易者 × 创作者 × 合作伙伴</a:t>
                      </a:r>
                    </a:p>
                  </a:txBody>
                  <a:tcPr marL="219456" anchor="ctr">
                    <a:solidFill>
                      <a:srgbClr val="10101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0B90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在地化</a:t>
                      </a:r>
                    </a:p>
                  </a:txBody>
                  <a:tcPr marL="219456" anchor="ctr"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8A8A8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弱</a:t>
                      </a:r>
                    </a:p>
                  </a:txBody>
                  <a:tcPr marL="219456" anchor="ctr"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多语言 + 本地话题 + 法币入口</a:t>
                      </a:r>
                    </a:p>
                  </a:txBody>
                  <a:tcPr marL="219456" anchor="ctr">
                    <a:solidFill>
                      <a:srgbClr val="101010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sunrise_flat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CORE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四大支柱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RWA 事件、可验证结算、AI 引擎与在地化——撑起每一笔预测的底层轨道。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2556433" cy="301752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r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36" y="2697480"/>
            <a:ext cx="1188720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31920"/>
            <a:ext cx="255643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RWA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255643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事件资产化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219067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把真实世界事件做成可交易标的，多领域覆盖。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5113" y="2468880"/>
            <a:ext cx="2556433" cy="301752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ora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969" y="2697480"/>
            <a:ext cx="118872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25113" y="3931920"/>
            <a:ext cx="255643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ORACLE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5113" y="4206240"/>
            <a:ext cx="255643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结算验证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7993" y="4663440"/>
            <a:ext cx="219067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可验证数据源 + DAO 仲裁，链上结算可审计。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146" y="2468880"/>
            <a:ext cx="2556433" cy="301752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-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002" y="2697480"/>
            <a:ext cx="1188720" cy="1188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10146" y="3931920"/>
            <a:ext cx="255643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6" y="4206240"/>
            <a:ext cx="255643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3026" y="4663440"/>
            <a:ext cx="219067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市场创建、资讯智能与情绪分析，降低门槛。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5179" y="2468880"/>
            <a:ext cx="2556433" cy="301752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loc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9035" y="2697480"/>
            <a:ext cx="1188720" cy="11887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95179" y="3931920"/>
            <a:ext cx="255643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LOCAL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5179" y="4206240"/>
            <a:ext cx="255643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在地化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059" y="4663440"/>
            <a:ext cx="219067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多语言、本地话题与法币入口，贴近真实需求。</a:t>
            </a:r>
          </a:p>
        </p:txBody>
      </p:sp>
      <p:pic>
        <p:nvPicPr>
          <p:cNvPr id="27" name="Picture 26" descr="sunrise_flat_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从围观，到上瘾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把专业交易，重塑为直觉、轻量、社交化的体验。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393338" cy="24688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07565" y="3017520"/>
            <a:ext cx="658368" cy="658368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7565" y="3154680"/>
            <a:ext cx="6583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B0B0B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探索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看见洞察而非复杂操作，从社交讯号到预测机会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3418" y="32004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2743200"/>
            <a:ext cx="3393338" cy="24688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6663" y="3017520"/>
            <a:ext cx="658368" cy="658368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6663" y="3154680"/>
            <a:ext cx="6583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B0B0B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498" y="393192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尝试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3498" y="443484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秒级注册、零风险起步，AI 把交易翻成看涨/看跌 + 概率%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2516" y="32004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8276" y="2743200"/>
            <a:ext cx="3393338" cy="24688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25761" y="3017520"/>
            <a:ext cx="658368" cy="658368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5761" y="3154680"/>
            <a:ext cx="6583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B0B0B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393192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参与 &amp; 分享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596" y="4434840"/>
            <a:ext cx="28446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一键生成收益卡片——预测即内容，天然裂变</a:t>
            </a:r>
          </a:p>
        </p:txBody>
      </p:sp>
      <p:pic>
        <p:nvPicPr>
          <p:cNvPr id="24" name="Picture 23" descr="sunrise_flat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ECOSYSTEM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生态系统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一个可组合的协议：基金会治理，模块协同，三类伙伴共建——把事件资产化做成全球基建。</a:t>
            </a:r>
          </a:p>
        </p:txBody>
      </p:sp>
      <p:sp>
        <p:nvSpPr>
          <p:cNvPr id="7" name="Oval 6"/>
          <p:cNvSpPr/>
          <p:nvPr/>
        </p:nvSpPr>
        <p:spPr>
          <a:xfrm>
            <a:off x="4535424" y="3154680"/>
            <a:ext cx="3108960" cy="2286000"/>
          </a:xfrm>
          <a:prstGeom prst="ellipse">
            <a:avLst/>
          </a:prstGeom>
          <a:noFill/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55264" y="2743200"/>
            <a:ext cx="5669280" cy="3108960"/>
          </a:xfrm>
          <a:prstGeom prst="ellipse">
            <a:avLst/>
          </a:prstGeom>
          <a:noFill/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83664" y="2468880"/>
            <a:ext cx="8412480" cy="3657600"/>
          </a:xfrm>
          <a:prstGeom prst="ellipse">
            <a:avLst/>
          </a:prstGeom>
          <a:noFill/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41264" y="3749040"/>
            <a:ext cx="1097280" cy="1097280"/>
          </a:xfrm>
          <a:prstGeom prst="ellipse">
            <a:avLst/>
          </a:prstGeom>
          <a:solidFill>
            <a:srgbClr val="2A2005"/>
          </a:solidFill>
          <a:ln w="12700">
            <a:solidFill>
              <a:srgbClr val="F0B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41264" y="3977640"/>
            <a:ext cx="1097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Kairos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基金会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6944" y="230428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●  预测市场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321868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●  做市工具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504748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●  套利工具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605332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●  支付平台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7984" y="504748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●  AI 模块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7984" y="321868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●  生态激励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801368"/>
            <a:ext cx="2011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6D2E8"/>
                </a:solidFill>
                <a:latin typeface="PingFang SC"/>
                <a:ea typeface="PingFang SC"/>
                <a:cs typeface="PingFang SC"/>
              </a:rPr>
              <a:t>Market Builders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4" y="5916168"/>
            <a:ext cx="2011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6D2E8"/>
                </a:solidFill>
                <a:latin typeface="PingFang SC"/>
                <a:ea typeface="PingFang SC"/>
                <a:cs typeface="PingFang SC"/>
              </a:rPr>
              <a:t>Oracle &amp;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5916168"/>
            <a:ext cx="2011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6D2E8"/>
                </a:solidFill>
                <a:latin typeface="PingFang SC"/>
                <a:ea typeface="PingFang SC"/>
                <a:cs typeface="PingFang SC"/>
              </a:rPr>
              <a:t>Distribution</a:t>
            </a:r>
          </a:p>
        </p:txBody>
      </p:sp>
      <p:pic>
        <p:nvPicPr>
          <p:cNvPr id="21" name="Picture 20" descr="sunrise_flat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BUSINESS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清晰、链上、可审计的盈利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费用结构简单透明，所有费用于链上执行、可公开审计。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5669280" cy="105156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50800" cy="105156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07792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9992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交易手续费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4015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每位成交方单边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5669280" cy="105156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50800" cy="105156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87952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7939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结算手续费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6817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仅对获胜结果</a:t>
            </a:r>
          </a:p>
        </p:txBody>
      </p:sp>
      <p:pic>
        <p:nvPicPr>
          <p:cNvPr id="17" name="Picture 16" descr="donut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423160"/>
            <a:ext cx="3291840" cy="32918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12480" y="38404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营收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688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81635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交易手续费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8463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19379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结算手续费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4688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281635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数据与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48463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519379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企业级整合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  <a:cs typeface="PingFang SC"/>
              </a:rPr>
              <a:t>营收结构为示例配置，仅作说明，不构成承诺。</a:t>
            </a:r>
          </a:p>
        </p:txBody>
      </p:sp>
      <p:pic>
        <p:nvPicPr>
          <p:cNvPr id="28" name="Picture 27" descr="sunrise_flat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GROWTH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创作者驱动的增长飞轮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覆盖社交与主流平台，而非局限加密原生——三层分发，层层放大。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4542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/ 全民合伙人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454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人人可裂变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345429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任何用户都能邀请、参与共建，自下而上扩散。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698" y="2286000"/>
            <a:ext cx="34542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/ 流量节点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2651760"/>
            <a:ext cx="3454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区域增长引擎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3154680"/>
            <a:ext cx="345429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经审核的高贡献分发者，承担区域化推广。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7316" y="2286000"/>
            <a:ext cx="34542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/ 白标代理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7316" y="2651760"/>
            <a:ext cx="3454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7–14 天上线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7316" y="3154680"/>
            <a:ext cx="345429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品牌化交付，流动性与主平台共享，集中深度。</a:t>
            </a:r>
          </a:p>
        </p:txBody>
      </p:sp>
      <p:pic>
        <p:nvPicPr>
          <p:cNvPr id="16" name="Picture 15" descr="sunrise_flat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一个被低估的娱乐金融市场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预测市场正演变为互动式娱乐——亚太是成长最快的市场，需求最强烈。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484778" cy="1554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05456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核心人群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29361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18–40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3458" y="2286000"/>
            <a:ext cx="3484778" cy="1554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505456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性别分布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999232"/>
            <a:ext cx="29361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55% / 45%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2286000"/>
            <a:ext cx="3484778" cy="1554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1156" y="2505456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成长最快区域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2999232"/>
            <a:ext cx="29361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亚太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69080"/>
            <a:ext cx="3484778" cy="1554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88536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文化引擎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82312"/>
            <a:ext cx="29361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TikTok · K-pop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3458" y="4069080"/>
            <a:ext cx="3484778" cy="1554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7778" y="4288536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增长杠杆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4782312"/>
            <a:ext cx="29361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在地化 + 活动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6836" y="4069080"/>
            <a:ext cx="3484778" cy="1554480"/>
          </a:xfrm>
          <a:prstGeom prst="roundRect">
            <a:avLst>
              <a:gd name="adj" fmla="val 6000"/>
            </a:avLst>
          </a:prstGeom>
          <a:solidFill>
            <a:srgbClr val="16161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1156" y="4288536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形态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1156" y="4782312"/>
            <a:ext cx="293613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互动式娱乐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  <a:cs typeface="PingFang SC"/>
              </a:rPr>
              <a:t>人群与规模数据为行业示例 / 待自有模型重估。</a:t>
            </a:r>
          </a:p>
        </p:txBody>
      </p:sp>
      <p:pic>
        <p:nvPicPr>
          <p:cNvPr id="26" name="Picture 25" descr="sunrise_flat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横跨协议、AI、算法、工程与生态拓展的国际化团队——兼具金融科技的严谨与 Web3 的敏捷。</a:t>
            </a:r>
          </a:p>
        </p:txBody>
      </p:sp>
      <p:pic>
        <p:nvPicPr>
          <p:cNvPr id="7" name="Picture 6" descr="AtulKa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40" y="23774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Atul Kamble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706624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创始人 Founder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980944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IIT (BHU) 出身、连续创业者。主导协议设计与战略——把预测市场重塑为人人可参与的事件金融基建。</a:t>
            </a:r>
          </a:p>
        </p:txBody>
      </p:sp>
      <p:pic>
        <p:nvPicPr>
          <p:cNvPr id="11" name="Picture 10" descr="JesseLi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46888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0920" y="23774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Jesse Liu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706624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联合创始人 Co-Founder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980944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深耕亚太加密市场，主导运营、资本与在地化落地，把「在地化」做成 Kairos 的突围点。</a:t>
            </a:r>
          </a:p>
        </p:txBody>
      </p:sp>
      <p:pic>
        <p:nvPicPr>
          <p:cNvPr id="15" name="Picture 14" descr="SpencerSh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86200"/>
            <a:ext cx="868680" cy="868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91640" y="37947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Spencer 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23944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BD 负责人 BD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398264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负责上所、做市商、预言机与白标合作落地，把顶级投资人资源转成可执行网络。</a:t>
            </a:r>
          </a:p>
        </p:txBody>
      </p:sp>
      <p:pic>
        <p:nvPicPr>
          <p:cNvPr id="19" name="Picture 18" descr="DerekFu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886200"/>
            <a:ext cx="868680" cy="868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60920" y="37947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Derek Fung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123944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AI 产品设计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398264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把 CLOB、概率定价翻译成「看涨/看跌 + 概率%」的直觉体验，让零基础用户秒上手。</a:t>
            </a:r>
          </a:p>
        </p:txBody>
      </p:sp>
      <p:pic>
        <p:nvPicPr>
          <p:cNvPr id="23" name="Picture 22" descr="PanagiotisSimati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303520"/>
            <a:ext cx="868680" cy="8686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91640" y="521208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Panagiotis Simatis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541264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AI 与数据库 AI &amp;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815584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构建实时数据管道与 AI 系统，支撑市场创建、资讯智能与情绪分析。</a:t>
            </a:r>
          </a:p>
        </p:txBody>
      </p:sp>
      <p:pic>
        <p:nvPicPr>
          <p:cNvPr id="27" name="Picture 26" descr="ibraheemIn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5303520"/>
            <a:ext cx="868680" cy="8686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60920" y="521208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Ibraheem Inam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5541264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高级算法 Algorithm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5815584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2C2C2"/>
                </a:solidFill>
                <a:latin typeface="PingFang SC"/>
                <a:ea typeface="PingFang SC"/>
                <a:cs typeface="PingFang SC"/>
              </a:rPr>
              <a:t>负责撮合引擎、定价与风控算法，确保高波动下依然稳定、高效、可结算。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  <a:cs typeface="PingFang SC"/>
              </a:rPr>
              <a:t>更多顾问与合作伙伴，将随网络临近上线陆续公布。</a:t>
            </a:r>
          </a:p>
        </p:txBody>
      </p:sp>
      <p:pic>
        <p:nvPicPr>
          <p:cNvPr id="32" name="Picture 31" descr="sunrise_flat_25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86384"/>
            <a:ext cx="640080" cy="38100"/>
          </a:xfrm>
          <a:prstGeom prst="roundRect">
            <a:avLst>
              <a:gd name="adj" fmla="val 0"/>
            </a:avLst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执行优先的路线图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911535" cy="25400"/>
          </a:xfrm>
          <a:prstGeom prst="roundRect">
            <a:avLst>
              <a:gd name="adj" fmla="val 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2361" y="2651760"/>
            <a:ext cx="237744" cy="237744"/>
          </a:xfrm>
          <a:prstGeom prst="ellipse">
            <a:avLst/>
          </a:prstGeom>
          <a:solidFill>
            <a:srgbClr val="F0B90B"/>
          </a:solidFill>
          <a:ln w="12700">
            <a:solidFill>
              <a:srgbClr val="F0B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21823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PHASE 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21823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命名与品牌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19079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名称、叙事、视觉识别。</a:t>
            </a:r>
          </a:p>
        </p:txBody>
      </p:sp>
      <p:sp>
        <p:nvSpPr>
          <p:cNvPr id="11" name="Oval 10"/>
          <p:cNvSpPr/>
          <p:nvPr/>
        </p:nvSpPr>
        <p:spPr>
          <a:xfrm>
            <a:off x="3794668" y="2651760"/>
            <a:ext cx="237744" cy="23774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2387" y="3063240"/>
            <a:ext cx="21823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PHASE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2387" y="3383280"/>
            <a:ext cx="21823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启动与早期成长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9547" y="3794760"/>
            <a:ext cx="19079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平台上线；早期流动性冷启动。</a:t>
            </a:r>
          </a:p>
        </p:txBody>
      </p:sp>
      <p:sp>
        <p:nvSpPr>
          <p:cNvPr id="15" name="Oval 14"/>
          <p:cNvSpPr/>
          <p:nvPr/>
        </p:nvSpPr>
        <p:spPr>
          <a:xfrm>
            <a:off x="5976975" y="2651760"/>
            <a:ext cx="237744" cy="23774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4694" y="3063240"/>
            <a:ext cx="21823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PHASE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4694" y="3383280"/>
            <a:ext cx="21823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流动性与基建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1854" y="3794760"/>
            <a:ext cx="19079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基础设施升级；做市与流动性优化。</a:t>
            </a:r>
          </a:p>
        </p:txBody>
      </p:sp>
      <p:sp>
        <p:nvSpPr>
          <p:cNvPr id="19" name="Oval 18"/>
          <p:cNvSpPr/>
          <p:nvPr/>
        </p:nvSpPr>
        <p:spPr>
          <a:xfrm>
            <a:off x="8159282" y="2651760"/>
            <a:ext cx="237744" cy="23774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7001" y="3063240"/>
            <a:ext cx="21823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PHASE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001" y="3383280"/>
            <a:ext cx="21823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 V2 +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4161" y="3794760"/>
            <a:ext cx="19079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Kairos V2；AI 探索能力深化。</a:t>
            </a:r>
          </a:p>
        </p:txBody>
      </p:sp>
      <p:sp>
        <p:nvSpPr>
          <p:cNvPr id="23" name="Oval 22"/>
          <p:cNvSpPr/>
          <p:nvPr/>
        </p:nvSpPr>
        <p:spPr>
          <a:xfrm>
            <a:off x="10341589" y="2651760"/>
            <a:ext cx="237744" cy="23774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9308" y="3063240"/>
            <a:ext cx="21823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PHASE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9308" y="3383280"/>
            <a:ext cx="21823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生态成长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6468" y="3794760"/>
            <a:ext cx="190798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  <a:cs typeface="PingFang SC"/>
              </a:rPr>
              <a:t>合作伙伴与创作者扩张；治理上线。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汇聚共识 · 预见未来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12648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PingFang SC"/>
                <a:ea typeface="PingFang SC"/>
                <a:cs typeface="PingFang SC"/>
              </a:rPr>
              <a:t>本文档仅供信息参考，不构成投资建议；示例数据以平台后续正式公告为准。</a:t>
            </a:r>
          </a:p>
        </p:txBody>
      </p:sp>
      <p:pic>
        <p:nvPicPr>
          <p:cNvPr id="29" name="Picture 28" descr="sunrise_flat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6382512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247120" y="63916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0B90B"/>
                </a:solidFill>
                <a:latin typeface="PingFang SC"/>
                <a:ea typeface="PingFang SC"/>
                <a:cs typeface="PingFang SC"/>
              </a:rPr>
              <a:t>KAIROS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